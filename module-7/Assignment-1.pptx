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3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4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21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69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2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6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21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0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1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2116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3609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18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0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799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188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29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963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87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92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45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52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1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467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1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804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280C-018F-DD1A-3AA0-90B87014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DFF23-E2F5-EB20-99EA-2394CB6A5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32AFF-9B2B-E3CB-EA4A-1EBBA77C3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FB785-7958-9A97-9DDF-4399DBC7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CE6A2-C15A-B139-42AE-43E21F8B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F31C1-6811-5DA7-09BA-C0F96A81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9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1AB12112-8EE1-486D-82CF-E51F9574F21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CCE2B44-F6FB-4D9D-8B65-5C545C56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0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blog/category/devops/" TargetMode="External"/><Relationship Id="rId2" Type="http://schemas.openxmlformats.org/officeDocument/2006/relationships/hyperlink" Target="https://sre.google/workbook/on-cal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rdentisys.com/pagerduty-a-go-to-devops-technology/" TargetMode="External"/><Relationship Id="rId5" Type="http://schemas.openxmlformats.org/officeDocument/2006/relationships/hyperlink" Target="https://www.solarwinds.com/sre-best-practices/on-call-rotation-best-practices" TargetMode="External"/><Relationship Id="rId4" Type="http://schemas.openxmlformats.org/officeDocument/2006/relationships/hyperlink" Target="https://www.pagerduty.com/resources/incident-management-response/learn/call-rotations-schedules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07E467-CA88-59BF-AD64-ECA0F98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6" y="285135"/>
            <a:ext cx="10537723" cy="62926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 Rotation Duties in DevOps (Fully Integrated Version</a:t>
            </a:r>
            <a:r>
              <a:rPr lang="en-US" sz="3600" b="1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819307-066A-CCC9-6573-15ED8C0E6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14400"/>
            <a:ext cx="10515599" cy="5262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 &amp; Overview: Pager Rotation Duties in DevOps: Industry Best Practices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Girma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Dingeto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CSD380 – DevOps, Module 7.2 Assignment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 19, 2026</a:t>
            </a:r>
          </a:p>
          <a:p>
            <a:pPr marL="0" indent="0"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modern DevOps/SRE pager rotation best practices.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burnout while improving reliability.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guidance from DevOps Handbook Ch. 16 and industry sources.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Focus: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deployments through fast feedback loops.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ownership of reliability.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Sustainable, humane on‑call systems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9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9B4E-F4FD-677C-160F-37D70B7E9D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0316" y="365125"/>
            <a:ext cx="8855021" cy="75565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 (DevOps Handbook, Ch. 16)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7707-7A89-1D54-50C6-6A97D0108A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24910" y="1258529"/>
            <a:ext cx="3794728" cy="4918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Enabling Feedback to Safely Deploy Code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 duty provides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real‑time operational feedback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Reinforces DevOps principle: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“You build it, you run it.”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Shortens feedback loops → safer deployments.</a:t>
            </a:r>
          </a:p>
          <a:p>
            <a:pPr marL="0" indent="0"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Pager Principles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Ops silos — product teams own incidents.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 rotation is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mechanism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punishment.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7474D-1261-CA38-23FF-8CA52AD9D6F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322142" y="1120775"/>
            <a:ext cx="5165666" cy="5056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Problems Visible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Incidents expose tech debt, weak tests, missing automation.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 → upstream architectural improvements.</a:t>
            </a:r>
          </a:p>
          <a:p>
            <a:pPr marL="0" lv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Upstream Architecture Changes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Frequent pages indicate need for: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Resilience engineering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Fault isolation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CI/CD pipelines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Stronger SLOs &amp; error budgets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02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C19A-F98B-22EE-836B-370C694D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Transitioning to the DevOps On‑Call Model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B8F6-72C6-9246-20EC-4EB710DD6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66684"/>
            <a:ext cx="5110316" cy="4810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the Silo Mentality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Legacy Ops handled incidents alone →slow, blame‑heavy.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 shifts 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lifecycle ownership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Legacy Operations Challenges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“Throw it over the wall” delays recovery.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shared accountability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C550-BE21-A7AF-EBF3-4CE624433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632" y="1366685"/>
            <a:ext cx="5110316" cy="4660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&amp; Component Ownership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Teams own: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response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Postmortems</a:t>
            </a:r>
          </a:p>
          <a:p>
            <a:pPr marL="0" lv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Lifecycle Rules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escalation paths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 standards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Postmortem integration into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4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A7A243-A9FB-D91D-AF0B-D1B3FFF9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6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</a:t>
            </a:r>
            <a:r>
              <a:rPr lang="en-US" sz="3600" b="1" dirty="0"/>
              <a:t>Designing On‑Call Schedules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AA6423-C760-9772-ED08-2658BA6AF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3226" y="1071716"/>
            <a:ext cx="4857135" cy="5105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Team Capacity Benchmarks</a:t>
            </a:r>
            <a:endParaRPr lang="en-US" sz="1600" dirty="0"/>
          </a:p>
          <a:p>
            <a:pPr lvl="0"/>
            <a:r>
              <a:rPr lang="en-US" sz="1600" dirty="0"/>
              <a:t>Google SRE: </a:t>
            </a:r>
            <a:r>
              <a:rPr lang="en-US" sz="1600" b="1" dirty="0"/>
              <a:t>≥ 8 engineers</a:t>
            </a:r>
            <a:r>
              <a:rPr lang="en-US" sz="1600" dirty="0"/>
              <a:t> per rotation for sustainability.</a:t>
            </a:r>
          </a:p>
          <a:p>
            <a:pPr lvl="0"/>
            <a:r>
              <a:rPr lang="en-US" sz="1600" dirty="0"/>
              <a:t>Smaller teams (4–7) should use </a:t>
            </a:r>
            <a:r>
              <a:rPr lang="en-US" sz="1600" b="1" dirty="0"/>
              <a:t>Follow‑the‑Sun (FTS)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Rotation Frequency</a:t>
            </a:r>
            <a:endParaRPr lang="en-US" sz="1600" dirty="0"/>
          </a:p>
          <a:p>
            <a:pPr lvl="0"/>
            <a:r>
              <a:rPr lang="en-US" sz="1600" dirty="0"/>
              <a:t>Each engineer should be primary </a:t>
            </a:r>
            <a:r>
              <a:rPr lang="en-US" sz="1600" b="1" dirty="0"/>
              <a:t>every 6–8 weeks</a:t>
            </a:r>
            <a:r>
              <a:rPr lang="en-US" sz="1600" dirty="0"/>
              <a:t>, not weekly.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40BF-FFC5-92AF-BCE7-65E795271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071716"/>
            <a:ext cx="5257800" cy="5105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Follow‑the‑Sun (FTS) Model</a:t>
            </a:r>
            <a:endParaRPr lang="en-US" sz="1600" dirty="0"/>
          </a:p>
          <a:p>
            <a:pPr lvl="0"/>
            <a:r>
              <a:rPr lang="en-US" sz="1600" dirty="0"/>
              <a:t>Global handoffs reduce overnight disruptions.</a:t>
            </a:r>
          </a:p>
          <a:p>
            <a:pPr lvl="0"/>
            <a:r>
              <a:rPr lang="en-US" sz="1600" dirty="0"/>
              <a:t>Requires structured transitions and shared tooling.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Multi‑Tier Defenses</a:t>
            </a:r>
            <a:endParaRPr lang="en-US" sz="1600" dirty="0"/>
          </a:p>
          <a:p>
            <a:pPr lvl="0"/>
            <a:r>
              <a:rPr lang="en-US" sz="1600" b="1" dirty="0"/>
              <a:t>Primary responder:</a:t>
            </a:r>
            <a:r>
              <a:rPr lang="en-US" sz="1600" dirty="0"/>
              <a:t> triage, mitigation.</a:t>
            </a:r>
          </a:p>
          <a:p>
            <a:pPr lvl="0"/>
            <a:r>
              <a:rPr lang="en-US" sz="1600" b="1" dirty="0"/>
              <a:t>Secondary:</a:t>
            </a:r>
            <a:r>
              <a:rPr lang="en-US" sz="1600" dirty="0"/>
              <a:t> backup escalation.</a:t>
            </a:r>
          </a:p>
          <a:p>
            <a:pPr lvl="0"/>
            <a:r>
              <a:rPr lang="en-US" sz="1600" b="1" dirty="0"/>
              <a:t>Incident commander:</a:t>
            </a:r>
            <a:r>
              <a:rPr lang="en-US" sz="1600" dirty="0"/>
              <a:t> coordinates major incidents.</a:t>
            </a:r>
          </a:p>
          <a:p>
            <a:pPr lvl="0"/>
            <a:r>
              <a:rPr lang="en-US" sz="1600" b="1" dirty="0"/>
              <a:t>Comms lead:</a:t>
            </a:r>
            <a:r>
              <a:rPr lang="en-US" sz="1600" dirty="0"/>
              <a:t> stakeholder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6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2510-90A9-1A9B-48B7-AE822FCFE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Controlling Incident Load &amp; Alert Fatigue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7297-E6C4-DE34-691D-5C8C00B01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6013"/>
            <a:ext cx="5181600" cy="4770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Data‑Driven Alert Hygiene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volume must be measured and continuously improved.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alert volume = monitoring/system failure, not human failure.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SRE Incident Caps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2 actionable alerts per 8–12hour shift.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alerts/shift = severe alert noise.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FEB68-FA07-D3A2-5B43-A597FE023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6013"/>
            <a:ext cx="5181600" cy="4770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Eliminating Flaky Alerts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 alerts that are: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Non‑actionable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Auto‑resolvable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Repetitive false positives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Turning via SLOs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should map directly 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 violations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budgets guide when to slow releases.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4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F2BA-9BE8-0708-17B3-2A8BA18B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Standardizing Handoffs &amp; Runbooks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BD4B-EF90-22FD-5A50-19ECC00858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Continuity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Structured handoffs include: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incidents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risks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changes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Upcoming deployments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Top‑5 Runbooks per Service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Restart procedure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 failure response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issues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Latency spikes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overload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33C50-AB57-D6D9-A1B1-AB5A6DA6F6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Runbook Requirements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Clear, step‑by‑step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Version‑controlled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after every incident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17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622B-16D4-F9B9-9F4E-4A9522EC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Training, Shadowing &amp; Human Factors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E1FC-83E4-95F1-A434-49593107E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Protecting Engineering Talent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On‑call is stressful; DevOps must protect engineers.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Shadow Rotation Model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engineers shadow experienced responders.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confidence and readiness.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A8D6A-CE44-6418-257C-DA9EFFBD92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Escalation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Escalate 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subject‑matter experts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managers.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Sleep Hygiene &amp; Compensation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Night pages require recovery time.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Compensation/time‑off for after‑hours work.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“hero culture.”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97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EE8A-F7B5-5F70-8526-E6AE1EB8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Blameless Postmortems &amp; Continuous Learning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82CE3-41DD-83CF-D4AD-99D17A13E1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Culture (DevOps “Third Way”)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systems, not individuals.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transparency and curiosity.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Blameless Postmortems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timeline, root causes, contributing factors.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 improvements into architecture, automation, runbooks, SLOs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E6840-427B-ECDE-98A9-82DB9879A8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Toil Reduction Plans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repetitive manual tasks.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where possible.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toil → happier engineers + faster resolution.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944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00F4-1231-6A26-B3A0-6613B582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456"/>
            <a:ext cx="10180320" cy="96926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Metrics That Matter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91BD-8122-3829-287F-B0AD23F450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Indicators of Healthy Pager Rotation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MTTA: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Mean Time to Acknowledge</a:t>
            </a:r>
          </a:p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MTTR: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Mean Time to Resolve</a:t>
            </a:r>
          </a:p>
          <a:p>
            <a:pPr marL="0" lvl="0" indent="0"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volume per shift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actionable alerts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Burnout indicators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(65% burnout reported in 2024 industry surveys)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6DB6B-EC65-9055-CA27-D3A4F892B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9445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 Practices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alert audits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rotation load vs. SLOs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Leadership commitment to humane on‑call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03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2BB3-A365-DEE9-FAEE-F52F190A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&amp; Recommendations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702B-9547-2A32-BFE9-78587B0543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Conclusions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 rotation is essential for DevOps reliability.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 rotations require adequate team size and multi‑tier roles.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hygiene and SLO‑driven monitoring prevent burnout.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runbooks and handoffs improve readiness.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Blameless postmortems drive continuous learning.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5B9CF-28FE-75B5-2B44-F80DBBD175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Recommendations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rotation with ≥6 engineers + primary/secondary roles.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incident cap (2 per shift).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Top‑5 runbooks per service.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shadowing and recovery policies.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blameless postmortems after every major incident.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3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0BB4-D919-7FD0-42BF-E67276763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7" y="371986"/>
            <a:ext cx="9564286" cy="61810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76ABF-A34F-5A85-1969-CF6F58795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103" y="1101213"/>
            <a:ext cx="9724697" cy="50757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 &amp; Core Frameworks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Kim, Gene, Jez Humble, Patrick Debois, and John Willis.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DevOps Handbook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Chapter 16 — Pager Rotation &amp; Feedback Loops.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SRE Team.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SRE Workbook – On‑Call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https://sre.google/workbook/on-call/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Best‑Practice Sources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PagerDuty DevOps Blog — Incident Response &amp; On‑Call Practices. 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https://www.pagerduty.com/blog/category/devops/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PagerDuty —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 Rotations &amp; Scheduling Guide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https://www.pagerduty.com/resources/incident-management-response/learn/call-rotations-schedules/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SolarWinds —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SRE Best Practices: On‑Call Rotation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https://www.solarwinds.com/sre-best-practices/on-call-rotation-best-practices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Ardentisys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PagerDuty: A Go‑To DevOps Technology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https://www.ardentisys.com/pagerduty-a-go-to-devops-technology/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Industry Commentary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DevOps.com —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On‑Call Rotation Best Practices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KindaTechnical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On‑Call Practices: Rotations, Escalation, Burnout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17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F760-1462-E5B9-6929-C5334D63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453263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998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Neue Haas Grotesk Text Pro</vt:lpstr>
      <vt:lpstr>Dune</vt:lpstr>
      <vt:lpstr>Pager Rotation Duties in DevOps (Fully Integrated Version) </vt:lpstr>
      <vt:lpstr>Foundation (DevOps Handbook, Ch. 16)</vt:lpstr>
      <vt:lpstr>Transitioning to the DevOps On‑Call Model</vt:lpstr>
      <vt:lpstr>  Designing On‑Call Schedules</vt:lpstr>
      <vt:lpstr>Controlling Incident Load &amp; Alert Fatigue</vt:lpstr>
      <vt:lpstr>        Standardizing Handoffs &amp; Runbooks</vt:lpstr>
      <vt:lpstr>Training, Shadowing &amp; Human Factors</vt:lpstr>
      <vt:lpstr>Blameless Postmortems &amp; Continuous Learning</vt:lpstr>
      <vt:lpstr>   Metrics That Matter</vt:lpstr>
      <vt:lpstr>  Summary &amp; Recommendations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1</cp:revision>
  <dcterms:created xsi:type="dcterms:W3CDTF">2026-09-19T14:08:04Z</dcterms:created>
  <dcterms:modified xsi:type="dcterms:W3CDTF">2026-09-19T15:55:48Z</dcterms:modified>
</cp:coreProperties>
</file>